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14400" y="640080"/>
            <a:ext cx="1188720" cy="365760"/>
          </a:xfrm>
          <a:prstGeom prst="line">
            <a:avLst/>
          </a:prstGeom>
          <a:noFill/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03120" y="640080"/>
            <a:ext cx="1188720" cy="731520"/>
          </a:xfrm>
          <a:prstGeom prst="line">
            <a:avLst/>
          </a:prstGeom>
          <a:noFill/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005840"/>
            <a:ext cx="548640" cy="1097280"/>
          </a:xfrm>
          <a:prstGeom prst="line">
            <a:avLst/>
          </a:prstGeom>
          <a:noFill/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2103120"/>
            <a:ext cx="1280160" cy="274320"/>
          </a:xfrm>
          <a:prstGeom prst="line">
            <a:avLst/>
          </a:prstGeom>
          <a:noFill/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0" y="640080"/>
            <a:ext cx="640080" cy="1737360"/>
          </a:xfrm>
          <a:prstGeom prst="line">
            <a:avLst/>
          </a:prstGeom>
          <a:noFill/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9692640" y="4297680"/>
            <a:ext cx="1188720" cy="548640"/>
          </a:xfrm>
          <a:prstGeom prst="line">
            <a:avLst/>
          </a:prstGeom>
          <a:noFill/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81360" y="4297680"/>
            <a:ext cx="640080" cy="1097280"/>
          </a:xfrm>
          <a:prstGeom prst="line">
            <a:avLst/>
          </a:prstGeom>
          <a:noFill/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0" y="4846320"/>
            <a:ext cx="548640" cy="1005840"/>
          </a:xfrm>
          <a:prstGeom prst="line">
            <a:avLst/>
          </a:prstGeom>
          <a:noFill/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 flipV="1">
            <a:off x="9144000" y="5486400"/>
            <a:ext cx="1097280" cy="365760"/>
          </a:xfrm>
          <a:prstGeom prst="line">
            <a:avLst/>
          </a:prstGeom>
          <a:noFill/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9144000" y="4297680"/>
            <a:ext cx="1737360" cy="1188720"/>
          </a:xfrm>
          <a:prstGeom prst="line">
            <a:avLst/>
          </a:prstGeom>
          <a:noFill/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96012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Shape 11"/>
          <p:cNvSpPr/>
          <p:nvPr/>
        </p:nvSpPr>
        <p:spPr>
          <a:xfrm>
            <a:off x="2057400" y="59436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Shape 12"/>
          <p:cNvSpPr/>
          <p:nvPr/>
        </p:nvSpPr>
        <p:spPr>
          <a:xfrm>
            <a:off x="3246120" y="132588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1417320" y="205740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Shape 14"/>
          <p:cNvSpPr/>
          <p:nvPr/>
        </p:nvSpPr>
        <p:spPr>
          <a:xfrm>
            <a:off x="2697480" y="233172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Shape 15"/>
          <p:cNvSpPr/>
          <p:nvPr/>
        </p:nvSpPr>
        <p:spPr>
          <a:xfrm>
            <a:off x="9646920" y="480060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35640" y="425196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Shape 17"/>
          <p:cNvSpPr/>
          <p:nvPr/>
        </p:nvSpPr>
        <p:spPr>
          <a:xfrm>
            <a:off x="11475720" y="534924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95560" y="580644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Shape 19"/>
          <p:cNvSpPr/>
          <p:nvPr/>
        </p:nvSpPr>
        <p:spPr>
          <a:xfrm>
            <a:off x="9098280" y="5440680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SCRAPING &amp; CRAWLING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3383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d'extraction de données, bibliothèques et limites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49961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Scraping vs Crawling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Définitions et différences clés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245059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450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3957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ça marche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724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d'extraction, étape par étape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3346704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3467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291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Bibliothèques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62102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outils Python les plus utilisés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424281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242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1879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51713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alternative structurée au scraping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513892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5138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508406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&amp; bonnes pratiques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54132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techniques, légales et éthiques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Qu'est-ce que le Web Scraping 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A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web scraping est l'extraction automatisée de données depuis une ou plusieurs pages web, en analysant leur code HTML pour en isoler des informations précises (prix, texte, images, tableaux...).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325526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31272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concurrentielle et suivi de prix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7581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6301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Agrégation de contenu (actualités, offres d'emploi)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26110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41330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 de jeux de données pour l'IA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201168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F2F7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0116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Web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(HTML)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2440" y="2423160"/>
            <a:ext cx="365760" cy="274320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3" name="Shape 11"/>
          <p:cNvSpPr/>
          <p:nvPr/>
        </p:nvSpPr>
        <p:spPr>
          <a:xfrm>
            <a:off x="8458200" y="201168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8200" y="20116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(sélecteurs)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149840" y="2423160"/>
            <a:ext cx="365760" cy="274320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0" y="201168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F2F7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0" y="20116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structurées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383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de la page brute aux données exploitables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Scraping vs Web Crawling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2F7F6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6916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6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7373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Crawling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5146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Parcourt automatiquement le web en suivant les liens, page après page, pour découvrir et indexer du contenu.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6576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un site ou le web entier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 les hyperliens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 par les moteurs de recherche (Googlebot)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2F7F6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169164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96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17373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Scraping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5146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 des données précises et ciblées depuis des pages déjà identifiées, pour les structurer.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6576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des pages spécifiques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 des données précises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 pour l'analyse et l'agrégation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fonctionne le scraping 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pipeline en quatre étapes, répété pour chaque page ciblée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Requête HTTP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21762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programme envoie une requête (GET) vers l'URL cible, souvent via un en-tête User-Agent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91256" y="3429000"/>
            <a:ext cx="164592" cy="27432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192024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66160" y="21031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88036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Téléchargement du HTML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520440"/>
            <a:ext cx="21762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serveur renvoie le code source de la page, parfois généré dynamiquement en JavaScript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34456" y="3429000"/>
            <a:ext cx="164592" cy="27432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192024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21031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88036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Parsing &amp; sélection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520440"/>
            <a:ext cx="21762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HTML est analysé et les données ciblées sont extraites via des sélecteurs CSS ou XPath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77656" y="3429000"/>
            <a:ext cx="164592" cy="27432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9" name="Shape 17"/>
          <p:cNvSpPr/>
          <p:nvPr/>
        </p:nvSpPr>
        <p:spPr>
          <a:xfrm>
            <a:off x="8869680" y="192024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00A8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52560" y="21031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288036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Stockage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3520440"/>
            <a:ext cx="21762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extraites sont nettoyées puis stockées (CSV, JSON, base de données)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Bibliothèques &amp; outils courants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Principalement en Python, l'écosystème le plus utilisé pour le scraping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2F7F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8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1109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060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Effectue les requêtes HTTP (GET/POST) de façon simple et fiable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2F7F6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19202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</a:t>
            </a:r>
            <a:endParaRPr lang="en-US" sz="168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91109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BeautifulSoup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6060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le HTML/XML et permet de naviguer facilement dans l'arbre DOM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2F7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19202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</a:t>
            </a:r>
            <a:endParaRPr lang="en-US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191109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Scrapy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6060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complet : crawling à grande échelle, files d'attente, export automatique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2F7F6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0690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168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05993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Selenium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7548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un vrai navigateur, idéal pour les sites en JavaScript dynamique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38404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2F7F6"/>
          </a:solidFill>
          <a:ln/>
        </p:spPr>
      </p:sp>
      <p:sp>
        <p:nvSpPr>
          <p:cNvPr id="25" name="Shape 23"/>
          <p:cNvSpPr/>
          <p:nvPr/>
        </p:nvSpPr>
        <p:spPr>
          <a:xfrm>
            <a:off x="4617720" y="40690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1772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</a:t>
            </a:r>
            <a:endParaRPr lang="en-US" sz="168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405993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47548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moderne à Selenium, plus rapide et multi-navigateurs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38404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2F7F6"/>
          </a:solidFill>
          <a:ln/>
        </p:spPr>
      </p:sp>
      <p:sp>
        <p:nvSpPr>
          <p:cNvPr id="30" name="Shape 28"/>
          <p:cNvSpPr/>
          <p:nvPr/>
        </p:nvSpPr>
        <p:spPr>
          <a:xfrm>
            <a:off x="8366760" y="40690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6676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LX</a:t>
            </a:r>
            <a:endParaRPr lang="en-US" sz="1680" dirty="0"/>
          </a:p>
        </p:txBody>
      </p:sp>
      <p:sp>
        <p:nvSpPr>
          <p:cNvPr id="32" name="Text 30"/>
          <p:cNvSpPr txBox="1"/>
          <p:nvPr/>
        </p:nvSpPr>
        <p:spPr>
          <a:xfrm>
            <a:off x="9052560" y="405993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lxml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47548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HTML/XML très performant, souvent utilisé via XPath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APIs : une alternative au scraping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A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API (Application Programming Interface) permet d'accéder aux données d'un service directement, dans un format structuré (JSON/XML), sans avoir à analyser le HTML de la page.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Fiabilité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stable, peu d'impact des changements visuels du site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26060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66160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Légalité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32918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autorisé et encadré par des conditions d'utilisation claires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26060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2918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légères en JSON, pas de rendu de page à télécharger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69680" y="26060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52560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Quotas clairs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32918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d'usage documentées (rate limiting officiel)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120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: API Twitter/X, API Google Maps, API REST de sites e-commerce, Open Data gouvernementales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Scraping vs API : que choisir 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00A89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Scraping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80760" y="141732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080760" y="14173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officielle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78992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011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0116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même sans API publique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20116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Nécessite que le service expose une API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10789920" cy="822960"/>
          </a:xfrm>
          <a:prstGeom prst="rect">
            <a:avLst/>
          </a:prstGeom>
          <a:solidFill>
            <a:srgbClr val="F2F7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834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Stabilité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331720" y="2834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: casse si le HTML change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283464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: contrat d'interface documenté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1078992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6576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Légalité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331720" y="3657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grise selon le site et l'usage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080760" y="365760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Encadrée par les conditions d'utilisation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10789920" cy="822960"/>
          </a:xfrm>
          <a:prstGeom prst="rect">
            <a:avLst/>
          </a:prstGeom>
          <a:solidFill>
            <a:srgbClr val="F2F7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4805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480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lent (téléchargement de pages entières)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080760" y="448056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 (réponses JSON légères)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5303520"/>
            <a:ext cx="1078992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5303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331720" y="5303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Nécessite parsing, anti-bot, maintenance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080760" y="530352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: appels HTTP + clé d'authentification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limite le web scraping — aspects techniques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154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3990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Contenu généré en JavaScript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39903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nombreux sites chargent leur contenu dynamiquement ; un simple parseur HTML ne le voit pas (nécessite Selenium/Playwright)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35000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350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!!</a:t>
            </a:r>
            <a:endParaRPr lang="en-US" sz="154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331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CAPTCHA &amp; vérifications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3317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mécanismes anti-bot (reCAPTCHA, Cloudflare) bloquent les requêtes automatisées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282696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282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endParaRPr lang="en-US" sz="154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2644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Blocage IP &amp; rate limiting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326440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 de requêtes trop rapides entraînent un blocage temporaire ou permanent de l'adresse IP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21538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215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54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1970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changeante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419709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simple changement de mise en page HTML peut casser tout le script de scraping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14807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5148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154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12978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Pagination &amp; scroll infini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512978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Certains sites chargent le contenu par petits blocs, rendant l'extraction complète plus complexe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limite le web scraping — aspects légaux &amp; éthiques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</a:t>
            </a:r>
            <a:endParaRPr lang="en-US" sz="154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3990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robots.txt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39903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indiquant les zones du site que les robots ne doivent pas explorer ; à respecter par convention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35000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350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</a:t>
            </a:r>
            <a:endParaRPr lang="en-US" sz="935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331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Conditions d'utilisation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3317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de sites interdisent explicitement le scraping automatisé dans leurs CGU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282696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282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</a:t>
            </a:r>
            <a:endParaRPr lang="en-US" sz="935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2644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personnelles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326440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L'extraction de données personnelles (RGPD en Europe) impose des règles strictes de consentement et d'usage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21538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215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</a:t>
            </a:r>
            <a:endParaRPr lang="en-US" sz="154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1970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Droit d'auteur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419709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contenu extrait (textes, images) peut être protégé et sa réutilisation restreinte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14807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5148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4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12978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 serveur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512978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scraping intensif peut surcharger le serveur cible, comparable à une attaque par déni de service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Bonnes pratiques à adopter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2F7F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3736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1732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et respecter le fichier robots.txt du site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2F7F6"/>
          </a:solidFill>
          <a:ln/>
        </p:spPr>
      </p:sp>
      <p:sp>
        <p:nvSpPr>
          <p:cNvPr id="8" name="Shape 6"/>
          <p:cNvSpPr/>
          <p:nvPr/>
        </p:nvSpPr>
        <p:spPr>
          <a:xfrm>
            <a:off x="6355080" y="173736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5508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141732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les conditions d'utilisation avant de scraper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2F7F6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297180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65176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Limiter la fréquence des requêtes (délais entre chaque appel)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265176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2F7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355080" y="297180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5508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65176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un User-Agent identifiable et honnête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88620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2F7F6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20624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388620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Privilégier une API officielle si elle existe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2200" y="388620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2F7F6"/>
          </a:solidFill>
          <a:ln/>
        </p:spPr>
      </p:sp>
      <p:sp>
        <p:nvSpPr>
          <p:cNvPr id="24" name="Shape 22"/>
          <p:cNvSpPr/>
          <p:nvPr/>
        </p:nvSpPr>
        <p:spPr>
          <a:xfrm>
            <a:off x="6355080" y="420624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5508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388620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stocker que les données réellement nécessaires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512064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2F7F6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960" y="544068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417320" y="512064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erreurs et les changements de structure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172200" y="512064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2F7F6"/>
          </a:solidFill>
          <a:ln/>
        </p:spPr>
      </p:sp>
      <p:sp>
        <p:nvSpPr>
          <p:cNvPr id="32" name="Shape 30"/>
          <p:cNvSpPr/>
          <p:nvPr/>
        </p:nvSpPr>
        <p:spPr>
          <a:xfrm>
            <a:off x="6355080" y="544068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55080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512064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extraire de données personnelles sans base légale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résumé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224942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43000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crawling explore, le scraping extrait — deux étapes souvent complémentaires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8895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2743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offre un écosystème riche : Requests, BeautifulSoup, Scrapy, Selenium, Playwright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52958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3383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une API existe, elle reste l'option la plus fiable et la plus légale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16966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40233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Techniquement et légalement, le scraping impose prudence, respect et modération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303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2026-09-18T08:58:16Z</dcterms:created>
  <dcterms:modified xsi:type="dcterms:W3CDTF">2026-09-18T08:58:16Z</dcterms:modified>
</cp:coreProperties>
</file>