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Aujourd’hui je vous présente Microsoft Bot Framework, une technologie de Microsoft pour créer des chatbots, et comment y ajouter le NLP pour les rendre plus intelligents. (≈ 30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 Framework est un framework Microsoft pour créer des chatbots. Ses avantages : automatisation, rapidité et meilleure expérience utilisateur. Précision importante : le SDK classique n’est plus maintenu et Microsoft recommande le Microsoft 365 Agents SDK pour les nouveaux projets. Bot Framework reste une technologie historique importante. (≈ 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le parcours d’un message : l’utilisateur écrit, le bot reçoit, analyse avec le NLP, identifie l’intention, traite la demande puis répond. Attention : le NLP n’est pas automatique, il faut l’intégrer. Sans NLP, le bot suit des règles simples. (≈ 1 min 15)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étapes : installer VS Code et Node.js, créer le projet, programmer la logique de conversation, intégrer le NLP si besoin, tester avec l’émulateur Bot Framework, puis déployer sur Azure. (≈ 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d’un chatbot de restaurant. L’utilisateur demande le menu. Le bot reçoit le message, reconnaît l’intention « Consultation du menu » et répond avec les pizzas, burgers et salades et leurs prix. (≈ 1 min 15)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chatbots servent en e-commerce, banque, restauration, service client et réservations. Conclusion : Bot Framework permet de créer des chatbots qui automatisent les conversations et améliorent l’expérience utilisateur. Pour les nouveaux projets, on utilise le Microsoft 365 Agents SDK. Merci pour votre attention. (≈ 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Bot Framework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d’un chatbot intelligent avec le NLP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 à outils Microsoft pour concevoir, tester et déployer des chatbots conversationnels.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[Votre nom]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32120" y="1097280"/>
            <a:ext cx="2834640" cy="2834640"/>
          </a:xfrm>
          <a:prstGeom prst="ellipse">
            <a:avLst/>
          </a:prstGeom>
          <a:solidFill>
            <a:srgbClr val="6C3FC5">
              <a:alpha val="45000"/>
            </a:srgbClr>
          </a:solidFill>
          <a:ln w="12700">
            <a:solidFill>
              <a:srgbClr val="6C3FC5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1417320"/>
            <a:ext cx="2194560" cy="2194560"/>
          </a:xfrm>
          <a:prstGeom prst="ellipse">
            <a:avLst/>
          </a:prstGeom>
          <a:solidFill>
            <a:srgbClr val="0078D4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Illustration cha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20240"/>
            <a:ext cx="1188720" cy="118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868680"/>
            <a:ext cx="1371600" cy="50292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06640" y="868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!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394960" y="3794760"/>
            <a:ext cx="2103120" cy="502920"/>
          </a:xfrm>
          <a:prstGeom prst="roundRect">
            <a:avLst>
              <a:gd name="adj" fmla="val 36364"/>
            </a:avLst>
          </a:prstGeom>
          <a:solidFill>
            <a:srgbClr val="6C3FC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39496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aider ?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et objectifs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0" cy="2468880"/>
          </a:xfrm>
          <a:prstGeom prst="roundRect">
            <a:avLst>
              <a:gd name="adj" fmla="val 4444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quoi 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Microsoft pour développer des chatbots qui dialoguent avec les utilisateurs.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rôle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conversations, connecter le bot à des canaux (Teams, site web…) et le déployer sur Azure.</a:t>
            </a:r>
            <a:endParaRPr lang="en-US" sz="1400" dirty="0"/>
          </a:p>
        </p:txBody>
      </p:sp>
      <p:sp>
        <p:nvSpPr>
          <p:cNvPr id="8" name="Automatisation cercle"/>
          <p:cNvSpPr/>
          <p:nvPr/>
        </p:nvSpPr>
        <p:spPr>
          <a:xfrm>
            <a:off x="4572000" y="118872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" name="Image 0" descr="Automatis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020" y="13487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949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bot répond sans intervention humaine</a:t>
            </a:r>
            <a:endParaRPr lang="en-US" sz="1400" dirty="0"/>
          </a:p>
        </p:txBody>
      </p:sp>
      <p:sp>
        <p:nvSpPr>
          <p:cNvPr id="12" name="Rapidité cercle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13" name="Image 1" descr="Rapidit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2174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instantanées, 24h/24</a:t>
            </a:r>
            <a:endParaRPr lang="en-US" sz="1400" dirty="0"/>
          </a:p>
        </p:txBody>
      </p:sp>
      <p:sp>
        <p:nvSpPr>
          <p:cNvPr id="16" name="Meilleure expérience cercle"/>
          <p:cNvSpPr/>
          <p:nvPr/>
        </p:nvSpPr>
        <p:spPr>
          <a:xfrm>
            <a:off x="4572000" y="292608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7" name="Image 2" descr="Meilleure expérie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30861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9496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expérience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39496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dialogue simple et naturel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79476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0EAFB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21" name="Image 3" descr="Inform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14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8404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: </a:t>
            </a:r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Bot Framework SDK classique n’est plus maintenu. Pour les nouveaux projets, Microsoft recommande le Microsoft 365 Agents SDK. Bot Framework reste une technologie historique importante des chatbots.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fonctionnement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25296" cy="1783080"/>
          </a:xfrm>
          <a:prstGeom prst="roundRect">
            <a:avLst>
              <a:gd name="adj" fmla="val 89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Utilisateur cercle"/>
          <p:cNvSpPr/>
          <p:nvPr/>
        </p:nvSpPr>
        <p:spPr>
          <a:xfrm>
            <a:off x="786384" y="1463040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" name="Image 0" descr="Utilisat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60477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488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700784" y="2057400"/>
            <a:ext cx="146304" cy="228600"/>
          </a:xfrm>
          <a:prstGeom prst="right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65376" y="1280160"/>
            <a:ext cx="1225296" cy="1783080"/>
          </a:xfrm>
          <a:prstGeom prst="roundRect">
            <a:avLst>
              <a:gd name="adj" fmla="val 89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Réception du message cercle"/>
          <p:cNvSpPr/>
          <p:nvPr/>
        </p:nvSpPr>
        <p:spPr>
          <a:xfrm>
            <a:off x="2194560" y="1463040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0" name="Image 1" descr="Réception du mess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292" y="160477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01952" y="21488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du message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108960" y="2057400"/>
            <a:ext cx="146304" cy="228600"/>
          </a:xfrm>
          <a:prstGeom prst="right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73552" y="1280160"/>
            <a:ext cx="1225296" cy="1783080"/>
          </a:xfrm>
          <a:prstGeom prst="roundRect">
            <a:avLst>
              <a:gd name="adj" fmla="val 8955"/>
            </a:avLst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Analyse NLP cercle"/>
          <p:cNvSpPr/>
          <p:nvPr/>
        </p:nvSpPr>
        <p:spPr>
          <a:xfrm>
            <a:off x="3602736" y="1463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Analyse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468" y="1604772"/>
            <a:ext cx="283464" cy="283464"/>
          </a:xfrm>
          <a:prstGeom prst="rect">
            <a:avLst/>
          </a:prstGeom>
        </p:spPr>
      </p:pic>
      <p:pic>
        <p:nvPicPr>
          <p:cNvPr id="16" name="Image 3" descr="NL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468" y="1604772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310128" y="21488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NLP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17136" y="2057400"/>
            <a:ext cx="146304" cy="228600"/>
          </a:xfrm>
          <a:prstGeom prst="right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681728" y="1280160"/>
            <a:ext cx="1225296" cy="1783080"/>
          </a:xfrm>
          <a:prstGeom prst="roundRect">
            <a:avLst>
              <a:gd name="adj" fmla="val 89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Identification de l’intention cercle"/>
          <p:cNvSpPr/>
          <p:nvPr/>
        </p:nvSpPr>
        <p:spPr>
          <a:xfrm>
            <a:off x="5010912" y="1463040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1" name="Image 4" descr="Identification de l’inten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644" y="1604772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718304" y="21488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 l’intention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925312" y="2057400"/>
            <a:ext cx="146304" cy="228600"/>
          </a:xfrm>
          <a:prstGeom prst="right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089904" y="1280160"/>
            <a:ext cx="1225296" cy="1783080"/>
          </a:xfrm>
          <a:prstGeom prst="roundRect">
            <a:avLst>
              <a:gd name="adj" fmla="val 89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raitement de la demande cercle"/>
          <p:cNvSpPr/>
          <p:nvPr/>
        </p:nvSpPr>
        <p:spPr>
          <a:xfrm>
            <a:off x="6419088" y="1463040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6" name="Image 5" descr="Traitement de la deman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1604772"/>
            <a:ext cx="283464" cy="28346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126480" y="21488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 la demande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7333488" y="2057400"/>
            <a:ext cx="146304" cy="228600"/>
          </a:xfrm>
          <a:prstGeom prst="right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498080" y="1280160"/>
            <a:ext cx="1225296" cy="1783080"/>
          </a:xfrm>
          <a:prstGeom prst="roundRect">
            <a:avLst>
              <a:gd name="adj" fmla="val 8955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Réponse du chatbot cercle"/>
          <p:cNvSpPr/>
          <p:nvPr/>
        </p:nvSpPr>
        <p:spPr>
          <a:xfrm>
            <a:off x="7827264" y="1463040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1" name="Image 6" descr="Réponse du chatb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8996" y="1604772"/>
            <a:ext cx="283464" cy="28346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534656" y="214884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du chatbot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3246120" y="3154680"/>
            <a:ext cx="1225296" cy="292608"/>
          </a:xfrm>
          <a:prstGeom prst="roundRect">
            <a:avLst>
              <a:gd name="adj" fmla="val 46875"/>
            </a:avLst>
          </a:prstGeom>
          <a:solidFill>
            <a:srgbClr val="F0EAFB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3246120" y="315468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intégrer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0EAFB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36" name="Image 7" descr="Idé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050792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188720" y="37947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</a:t>
            </a:r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NLP n’est pas présent automatiquement dans tous les chatbots. C’est une fonctionnalité à intégrer (ex. Azure AI Language) pour comprendre le langage naturel.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création d’un chatbot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Installer VS Code et Node.js cercle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" name="Image 0" descr="Installer VS Code et Node.j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05940"/>
            <a:ext cx="320040" cy="320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rgbClr val="6C3FC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VS Code et Node.js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80944" y="1828800"/>
            <a:ext cx="274320" cy="228600"/>
          </a:xfrm>
          <a:prstGeom prst="rightArrow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37560" y="12344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Créer le projet cercle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2" name="Image 1" descr="Créer le proj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80594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1325880"/>
            <a:ext cx="329184" cy="329184"/>
          </a:xfrm>
          <a:prstGeom prst="ellipse">
            <a:avLst/>
          </a:prstGeom>
          <a:solidFill>
            <a:srgbClr val="6C3FC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290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projet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61304" y="1828800"/>
            <a:ext cx="274320" cy="228600"/>
          </a:xfrm>
          <a:prstGeom prst="rightArrow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2344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Programmer la logique de conversation cercle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9" name="Image 2" descr="Programmer la logique de convers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805940"/>
            <a:ext cx="320040" cy="3200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09360" y="1325880"/>
            <a:ext cx="329184" cy="329184"/>
          </a:xfrm>
          <a:prstGeom prst="ellipse">
            <a:avLst/>
          </a:prstGeom>
          <a:solidFill>
            <a:srgbClr val="6C3FC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30936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78040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la logique de conversation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7200" y="310896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Intégrer le NLP (optionnel) cercle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5" name="Image 3" descr="Intégrer le NLP (optionnel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680460"/>
            <a:ext cx="320040" cy="32004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6C3FC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417320" y="324612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 NLP (optionnel)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2980944" y="3703320"/>
            <a:ext cx="274320" cy="228600"/>
          </a:xfrm>
          <a:prstGeom prst="rightArrow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337560" y="310896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Tester avec l’émulateur cercle"/>
          <p:cNvSpPr/>
          <p:nvPr/>
        </p:nvSpPr>
        <p:spPr>
          <a:xfrm>
            <a:off x="3520440" y="352044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2" name="Image 4" descr="Tester avec l’émulateu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3680460"/>
            <a:ext cx="320040" cy="32004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3429000" y="3200400"/>
            <a:ext cx="329184" cy="329184"/>
          </a:xfrm>
          <a:prstGeom prst="ellipse">
            <a:avLst/>
          </a:prstGeom>
          <a:solidFill>
            <a:srgbClr val="6C3FC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4290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297680" y="324612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avec l’émulateur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5861304" y="3703320"/>
            <a:ext cx="274320" cy="228600"/>
          </a:xfrm>
          <a:prstGeom prst="rightArrow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17920" y="310896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8" name="Déployer sur Microsoft Azure cercle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39" name="Image 5" descr="Déployer sur Microsoft Azu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680460"/>
            <a:ext cx="320040" cy="320040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309360" y="3200400"/>
            <a:ext cx="329184" cy="329184"/>
          </a:xfrm>
          <a:prstGeom prst="ellipse">
            <a:avLst/>
          </a:prstGeom>
          <a:solidFill>
            <a:srgbClr val="6C3FC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630936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7178040" y="324612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sur Microsoft Azure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pratique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97680" cy="3611880"/>
          </a:xfrm>
          <a:prstGeom prst="roundRect">
            <a:avLst>
              <a:gd name="adj" fmla="val 3797"/>
            </a:avLst>
          </a:prstGeom>
          <a:solidFill>
            <a:srgbClr val="EEF3FB"/>
          </a:solidFill>
          <a:ln w="12700">
            <a:solidFill>
              <a:srgbClr val="C9D6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297680" cy="548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" name="Image 0" descr="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Bot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1874520"/>
            <a:ext cx="2286000" cy="777240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7744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Bonjour, je voudrais connaître le menu.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320040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8346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! Nous proposons des pizzas à 60 DH, des burgers à 45 DH et des salades à 30 DH.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20624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6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 message…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20640" y="128016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1188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1554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bot reçoit le message de l’utilisateur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120640" y="2423160"/>
            <a:ext cx="502920" cy="50292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20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2331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 reconnue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2697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Consultation du menu »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120640" y="356616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20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80644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adaptée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806440" y="3840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bot envoie le menu avec les prix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d’utilisation et 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163F7F"/>
          </a:solidFill>
          <a:ln w="12700">
            <a:solidFill>
              <a:srgbClr val="2D5BA8"/>
            </a:solidFill>
            <a:prstDash val="solid"/>
          </a:ln>
        </p:spPr>
      </p:sp>
      <p:sp>
        <p:nvSpPr>
          <p:cNvPr id="4" name="E-commerce cercle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" name="Image 0" descr="E-comme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48840" y="118872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163F7F"/>
          </a:solidFill>
          <a:ln w="12700">
            <a:solidFill>
              <a:srgbClr val="2D5BA8"/>
            </a:solidFill>
            <a:prstDash val="solid"/>
          </a:ln>
        </p:spPr>
      </p:sp>
      <p:sp>
        <p:nvSpPr>
          <p:cNvPr id="8" name="Banques cercle"/>
          <p:cNvSpPr/>
          <p:nvPr/>
        </p:nvSpPr>
        <p:spPr>
          <a:xfrm>
            <a:off x="2560320" y="1371600"/>
            <a:ext cx="640080" cy="64008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9" name="Image 1" descr="Banqu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5316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945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840480" y="118872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163F7F"/>
          </a:solidFill>
          <a:ln w="12700">
            <a:solidFill>
              <a:srgbClr val="2D5BA8"/>
            </a:solidFill>
            <a:prstDash val="solid"/>
          </a:ln>
        </p:spPr>
      </p:sp>
      <p:sp>
        <p:nvSpPr>
          <p:cNvPr id="12" name="Restaurants cercle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3" name="Image 2" descr="Restaura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5316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862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532120" y="118872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163F7F"/>
          </a:solidFill>
          <a:ln w="12700">
            <a:solidFill>
              <a:srgbClr val="2D5BA8"/>
            </a:solidFill>
            <a:prstDash val="solid"/>
          </a:ln>
        </p:spPr>
      </p:sp>
      <p:sp>
        <p:nvSpPr>
          <p:cNvPr id="16" name="Service client cercle"/>
          <p:cNvSpPr/>
          <p:nvPr/>
        </p:nvSpPr>
        <p:spPr>
          <a:xfrm>
            <a:off x="5943600" y="1371600"/>
            <a:ext cx="640080" cy="640080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pic>
        <p:nvPicPr>
          <p:cNvPr id="17" name="Image 3" descr="Service cli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5316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778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223760" y="1188720"/>
            <a:ext cx="1463040" cy="1508760"/>
          </a:xfrm>
          <a:prstGeom prst="roundRect">
            <a:avLst>
              <a:gd name="adj" fmla="val 7500"/>
            </a:avLst>
          </a:prstGeom>
          <a:solidFill>
            <a:srgbClr val="163F7F"/>
          </a:solidFill>
          <a:ln w="12700">
            <a:solidFill>
              <a:srgbClr val="2D5BA8"/>
            </a:solidFill>
            <a:prstDash val="solid"/>
          </a:ln>
        </p:spPr>
      </p:sp>
      <p:sp>
        <p:nvSpPr>
          <p:cNvPr id="20" name="Réservations cercle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1" name="Image 4" descr="Réservatio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153162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694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57200" y="2926080"/>
            <a:ext cx="8229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31520" y="30449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731520" y="34564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Bot Framework permet de développer des chatbots qui automatisent les conversations et améliorent l’expérience utilisateur.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historique clé : pour les nouveaux projets, on privilégie désormais le Microsoft 365 Agents SDK.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Bot Framework</dc:title>
  <dc:subject>PptxGenJS Presentation</dc:subject>
  <dc:creator>PptxGenJS</dc:creator>
  <cp:lastModifiedBy>PptxGenJS</cp:lastModifiedBy>
  <cp:revision>1</cp:revision>
  <dcterms:created xsi:type="dcterms:W3CDTF">2026-10-16T00:26:09Z</dcterms:created>
  <dcterms:modified xsi:type="dcterms:W3CDTF">2026-10-16T00:26:09Z</dcterms:modified>
</cp:coreProperties>
</file>