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Imaginez la scène. Vous visitez un site, vous êtes intéressé, et on vous demande : nom, prénom, email, besoin… quatre cases. Vous soupirez, et vous fermez l'onglet. Et les vieux chatbots ? Pareil : dès que vous ne répondez pas exactement ce qu'ils attendent, ils disent « Je n'ai pas compris ». Le client est parti, et l'entreprise ne le saura jamais. Ce client perdu, c'est un lead perdu.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Changeons de logique : on laisse l'utilisateur parler comme à un humain. Regardez : « Salut, moi c'est Karim, je cherche un site e-commerce, écrivez-moi à karim@mail.com ». Un formulaire aurait posé quatre questions. L'agent Botpress comprend tout d'un coup : nom, email, besoin. Une phrase, trois informations. Et si une info manque, il la redemande naturellement, sans planter.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Voilà ce qu'on construit en direct. Un : l'agent accueille chaleureusement. Deux : il extrait nom, email et besoin, même en vrac. Trois : il vérifie que les infos sont valides. Quatre : il range tout dans une base de données. Transition : assez parlé, un agent ça se comprend mieux quand on le voit naître. Je ferme les slides, j'ouvre Botpress, et je vais lui parler n'importe comment pour voir s'il tient le coup. C'est parti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318"/>
        </a:solidFill>
      </p:bgPr>
    </p:bg>
    <p:spTree>
      <p:nvGrpSpPr>
        <p:cNvPr id="1" name=""/>
        <p:cNvGrpSpPr/>
        <p:nvPr/>
      </p:nvGrpSpPr>
      <p:grpSpPr>
        <a:xfrm>
          <a:off x="0" y="0"/>
          <a:ext cx="0" cy="0"/>
          <a:chOff x="0" y="0"/>
          <a:chExt cx="0" cy="0"/>
        </a:xfrm>
      </p:grpSpPr>
      <p:sp>
        <p:nvSpPr>
          <p:cNvPr id="2" name="Text 0"/>
          <p:cNvSpPr txBox="1"/>
          <p:nvPr/>
        </p:nvSpPr>
        <p:spPr>
          <a:xfrm>
            <a:off x="548640" y="457200"/>
            <a:ext cx="4572000" cy="73152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Ils sont partis.</a:t>
            </a:r>
            <a:endParaRPr lang="en-US" sz="3600" dirty="0"/>
          </a:p>
        </p:txBody>
      </p:sp>
      <p:sp>
        <p:nvSpPr>
          <p:cNvPr id="3" name="Text 1"/>
          <p:cNvSpPr txBox="1"/>
          <p:nvPr/>
        </p:nvSpPr>
        <p:spPr>
          <a:xfrm>
            <a:off x="548640" y="1371600"/>
            <a:ext cx="4389120" cy="1554480"/>
          </a:xfrm>
          <a:prstGeom prst="rect">
            <a:avLst/>
          </a:prstGeom>
          <a:noFill/>
          <a:ln/>
        </p:spPr>
        <p:txBody>
          <a:bodyPr wrap="square" lIns="0" tIns="0" rIns="0" bIns="0" rtlCol="0" anchor="ctr"/>
          <a:lstStyle/>
          <a:p>
            <a:pPr indent="0" marL="0">
              <a:buNone/>
            </a:pPr>
            <a:r>
              <a:rPr lang="en-US" sz="8800" b="1" dirty="0">
                <a:solidFill>
                  <a:srgbClr val="F97316"/>
                </a:solidFill>
                <a:latin typeface="Calibri" pitchFamily="34" charset="0"/>
                <a:ea typeface="Calibri" pitchFamily="34" charset="-122"/>
                <a:cs typeface="Calibri" pitchFamily="34" charset="-120"/>
              </a:rPr>
              <a:t>0 lead</a:t>
            </a:r>
            <a:endParaRPr lang="en-US" sz="8800" dirty="0"/>
          </a:p>
        </p:txBody>
      </p:sp>
      <p:sp>
        <p:nvSpPr>
          <p:cNvPr id="4" name="Text 2"/>
          <p:cNvSpPr txBox="1"/>
          <p:nvPr/>
        </p:nvSpPr>
        <p:spPr>
          <a:xfrm>
            <a:off x="548640" y="3108960"/>
            <a:ext cx="4389120" cy="457200"/>
          </a:xfrm>
          <a:prstGeom prst="rect">
            <a:avLst/>
          </a:prstGeom>
          <a:noFill/>
          <a:ln/>
        </p:spPr>
        <p:txBody>
          <a:bodyPr wrap="square" lIns="0" tIns="0" rIns="0" bIns="0" rtlCol="0" anchor="ctr"/>
          <a:lstStyle/>
          <a:p>
            <a:pPr indent="0" marL="0">
              <a:buNone/>
            </a:pPr>
            <a:r>
              <a:rPr lang="en-US" sz="2000" dirty="0">
                <a:solidFill>
                  <a:srgbClr val="A0A4AE"/>
                </a:solidFill>
                <a:latin typeface="Calibri" pitchFamily="34" charset="0"/>
                <a:ea typeface="Calibri" pitchFamily="34" charset="-122"/>
                <a:cs typeface="Calibri" pitchFamily="34" charset="-120"/>
              </a:rPr>
              <a:t>Formulaire = abandon</a:t>
            </a:r>
            <a:endParaRPr lang="en-US" sz="2000" dirty="0"/>
          </a:p>
        </p:txBody>
      </p:sp>
      <p:sp>
        <p:nvSpPr>
          <p:cNvPr id="5" name="Text 3"/>
          <p:cNvSpPr txBox="1"/>
          <p:nvPr/>
        </p:nvSpPr>
        <p:spPr>
          <a:xfrm>
            <a:off x="548640" y="3566160"/>
            <a:ext cx="4389120" cy="457200"/>
          </a:xfrm>
          <a:prstGeom prst="rect">
            <a:avLst/>
          </a:prstGeom>
          <a:noFill/>
          <a:ln/>
        </p:spPr>
        <p:txBody>
          <a:bodyPr wrap="square" lIns="0" tIns="0" rIns="0" bIns="0" rtlCol="0" anchor="ctr"/>
          <a:lstStyle/>
          <a:p>
            <a:pPr indent="0" marL="0">
              <a:buNone/>
            </a:pPr>
            <a:r>
              <a:rPr lang="en-US" sz="2000" dirty="0">
                <a:solidFill>
                  <a:srgbClr val="A0A4AE"/>
                </a:solidFill>
                <a:latin typeface="Calibri" pitchFamily="34" charset="0"/>
                <a:ea typeface="Calibri" pitchFamily="34" charset="-122"/>
                <a:cs typeface="Calibri" pitchFamily="34" charset="-120"/>
              </a:rPr>
              <a:t>Chatbot rigide = « Je n'ai pas compris »</a:t>
            </a:r>
            <a:endParaRPr lang="en-US" sz="2000" dirty="0"/>
          </a:p>
        </p:txBody>
      </p:sp>
      <p:sp>
        <p:nvSpPr>
          <p:cNvPr id="6" name="Shape 4"/>
          <p:cNvSpPr/>
          <p:nvPr/>
        </p:nvSpPr>
        <p:spPr>
          <a:xfrm>
            <a:off x="5120640" y="640080"/>
            <a:ext cx="3474720" cy="2926080"/>
          </a:xfrm>
          <a:prstGeom prst="roundRect">
            <a:avLst>
              <a:gd name="adj" fmla="val 3125"/>
            </a:avLst>
          </a:prstGeom>
          <a:solidFill>
            <a:srgbClr val="1E222B"/>
          </a:solidFill>
          <a:ln w="12700">
            <a:solidFill>
              <a:srgbClr val="2A2F3A"/>
            </a:solidFill>
            <a:prstDash val="solid"/>
          </a:ln>
        </p:spPr>
      </p:sp>
      <p:sp>
        <p:nvSpPr>
          <p:cNvPr id="7" name="Shape 5"/>
          <p:cNvSpPr/>
          <p:nvPr/>
        </p:nvSpPr>
        <p:spPr>
          <a:xfrm>
            <a:off x="5349240" y="914400"/>
            <a:ext cx="3017520" cy="365760"/>
          </a:xfrm>
          <a:prstGeom prst="rect">
            <a:avLst/>
          </a:prstGeom>
          <a:solidFill>
            <a:srgbClr val="2A2F3A"/>
          </a:solidFill>
          <a:ln w="12700">
            <a:solidFill>
              <a:srgbClr val="2A2F3A"/>
            </a:solidFill>
            <a:prstDash val="solid"/>
          </a:ln>
        </p:spPr>
      </p:sp>
      <p:sp>
        <p:nvSpPr>
          <p:cNvPr id="8" name="Text 6"/>
          <p:cNvSpPr txBox="1"/>
          <p:nvPr/>
        </p:nvSpPr>
        <p:spPr>
          <a:xfrm>
            <a:off x="5486400" y="914400"/>
            <a:ext cx="2743200" cy="36576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Nom</a:t>
            </a:r>
            <a:endParaRPr lang="en-US" sz="1200" dirty="0"/>
          </a:p>
        </p:txBody>
      </p:sp>
      <p:sp>
        <p:nvSpPr>
          <p:cNvPr id="9" name="Shape 7"/>
          <p:cNvSpPr/>
          <p:nvPr/>
        </p:nvSpPr>
        <p:spPr>
          <a:xfrm>
            <a:off x="5349240" y="1417320"/>
            <a:ext cx="3017520" cy="365760"/>
          </a:xfrm>
          <a:prstGeom prst="rect">
            <a:avLst/>
          </a:prstGeom>
          <a:solidFill>
            <a:srgbClr val="2A2F3A"/>
          </a:solidFill>
          <a:ln w="12700">
            <a:solidFill>
              <a:srgbClr val="2A2F3A"/>
            </a:solidFill>
            <a:prstDash val="solid"/>
          </a:ln>
        </p:spPr>
      </p:sp>
      <p:sp>
        <p:nvSpPr>
          <p:cNvPr id="10" name="Text 8"/>
          <p:cNvSpPr txBox="1"/>
          <p:nvPr/>
        </p:nvSpPr>
        <p:spPr>
          <a:xfrm>
            <a:off x="5486400" y="1417320"/>
            <a:ext cx="2743200" cy="36576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Prénom</a:t>
            </a:r>
            <a:endParaRPr lang="en-US" sz="1200" dirty="0"/>
          </a:p>
        </p:txBody>
      </p:sp>
      <p:sp>
        <p:nvSpPr>
          <p:cNvPr id="11" name="Shape 9"/>
          <p:cNvSpPr/>
          <p:nvPr/>
        </p:nvSpPr>
        <p:spPr>
          <a:xfrm>
            <a:off x="5349240" y="1920240"/>
            <a:ext cx="3017520" cy="365760"/>
          </a:xfrm>
          <a:prstGeom prst="rect">
            <a:avLst/>
          </a:prstGeom>
          <a:solidFill>
            <a:srgbClr val="2A2F3A"/>
          </a:solidFill>
          <a:ln w="12700">
            <a:solidFill>
              <a:srgbClr val="2A2F3A"/>
            </a:solidFill>
            <a:prstDash val="solid"/>
          </a:ln>
        </p:spPr>
      </p:sp>
      <p:sp>
        <p:nvSpPr>
          <p:cNvPr id="12" name="Text 10"/>
          <p:cNvSpPr txBox="1"/>
          <p:nvPr/>
        </p:nvSpPr>
        <p:spPr>
          <a:xfrm>
            <a:off x="5486400" y="1920240"/>
            <a:ext cx="2743200" cy="36576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Email</a:t>
            </a:r>
            <a:endParaRPr lang="en-US" sz="1200" dirty="0"/>
          </a:p>
        </p:txBody>
      </p:sp>
      <p:sp>
        <p:nvSpPr>
          <p:cNvPr id="13" name="Shape 11"/>
          <p:cNvSpPr/>
          <p:nvPr/>
        </p:nvSpPr>
        <p:spPr>
          <a:xfrm>
            <a:off x="5349240" y="2423160"/>
            <a:ext cx="3017520" cy="365760"/>
          </a:xfrm>
          <a:prstGeom prst="rect">
            <a:avLst/>
          </a:prstGeom>
          <a:solidFill>
            <a:srgbClr val="2A2F3A"/>
          </a:solidFill>
          <a:ln w="12700">
            <a:solidFill>
              <a:srgbClr val="2A2F3A"/>
            </a:solidFill>
            <a:prstDash val="solid"/>
          </a:ln>
        </p:spPr>
      </p:sp>
      <p:sp>
        <p:nvSpPr>
          <p:cNvPr id="14" name="Text 12"/>
          <p:cNvSpPr txBox="1"/>
          <p:nvPr/>
        </p:nvSpPr>
        <p:spPr>
          <a:xfrm>
            <a:off x="5486400" y="2423160"/>
            <a:ext cx="2743200" cy="36576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Besoin</a:t>
            </a:r>
            <a:endParaRPr lang="en-US" sz="1200" dirty="0"/>
          </a:p>
        </p:txBody>
      </p:sp>
      <p:sp>
        <p:nvSpPr>
          <p:cNvPr id="15" name="Shape 13"/>
          <p:cNvSpPr/>
          <p:nvPr/>
        </p:nvSpPr>
        <p:spPr>
          <a:xfrm>
            <a:off x="5349240" y="3017520"/>
            <a:ext cx="3017520" cy="109728"/>
          </a:xfrm>
          <a:prstGeom prst="rect">
            <a:avLst/>
          </a:prstGeom>
          <a:solidFill>
            <a:srgbClr val="2A2F3A"/>
          </a:solidFill>
          <a:ln w="12700">
            <a:solidFill>
              <a:srgbClr val="2A2F3A"/>
            </a:solidFill>
            <a:prstDash val="solid"/>
          </a:ln>
        </p:spPr>
      </p:sp>
      <p:sp>
        <p:nvSpPr>
          <p:cNvPr id="16" name="Shape 14"/>
          <p:cNvSpPr/>
          <p:nvPr/>
        </p:nvSpPr>
        <p:spPr>
          <a:xfrm>
            <a:off x="5349240" y="3017520"/>
            <a:ext cx="754380" cy="109728"/>
          </a:xfrm>
          <a:prstGeom prst="rect">
            <a:avLst/>
          </a:prstGeom>
          <a:solidFill>
            <a:srgbClr val="F97316"/>
          </a:solidFill>
          <a:ln w="12700">
            <a:solidFill>
              <a:srgbClr val="F97316"/>
            </a:solidFill>
            <a:prstDash val="solid"/>
          </a:ln>
        </p:spPr>
      </p:sp>
      <p:sp>
        <p:nvSpPr>
          <p:cNvPr id="17" name="Shape 15"/>
          <p:cNvSpPr/>
          <p:nvPr/>
        </p:nvSpPr>
        <p:spPr>
          <a:xfrm>
            <a:off x="5120640" y="3840480"/>
            <a:ext cx="3474720" cy="548640"/>
          </a:xfrm>
          <a:prstGeom prst="roundRect">
            <a:avLst>
              <a:gd name="adj" fmla="val 25000"/>
            </a:avLst>
          </a:prstGeom>
          <a:solidFill>
            <a:srgbClr val="3B1218"/>
          </a:solidFill>
          <a:ln w="12700">
            <a:solidFill>
              <a:srgbClr val="3B1218"/>
            </a:solidFill>
            <a:prstDash val="solid"/>
          </a:ln>
        </p:spPr>
      </p:sp>
      <p:sp>
        <p:nvSpPr>
          <p:cNvPr id="18" name="Text 16"/>
          <p:cNvSpPr txBox="1"/>
          <p:nvPr/>
        </p:nvSpPr>
        <p:spPr>
          <a:xfrm>
            <a:off x="5349240" y="3840480"/>
            <a:ext cx="3108960" cy="548640"/>
          </a:xfrm>
          <a:prstGeom prst="rect">
            <a:avLst/>
          </a:prstGeom>
          <a:noFill/>
          <a:ln/>
        </p:spPr>
        <p:txBody>
          <a:bodyPr wrap="square" lIns="0" tIns="0" rIns="0" bIns="0" rtlCol="0" anchor="ctr"/>
          <a:lstStyle/>
          <a:p>
            <a:pPr indent="0" marL="0">
              <a:buNone/>
            </a:pPr>
            <a:r>
              <a:rPr lang="en-US" sz="1500" dirty="0">
                <a:solidFill>
                  <a:srgbClr val="F87171"/>
                </a:solidFill>
                <a:latin typeface="Calibri" pitchFamily="34" charset="0"/>
                <a:ea typeface="Calibri" pitchFamily="34" charset="-122"/>
                <a:cs typeface="Calibri" pitchFamily="34" charset="-120"/>
              </a:rPr>
              <a:t>✕  Je n'ai pas compris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indent="0" marL="0">
              <a:buNone/>
            </a:pPr>
            <a:r>
              <a:rPr lang="en-US" sz="3200" b="1" dirty="0">
                <a:solidFill>
                  <a:srgbClr val="1F2937"/>
                </a:solidFill>
                <a:latin typeface="Calibri" pitchFamily="34" charset="0"/>
                <a:ea typeface="Calibri" pitchFamily="34" charset="-122"/>
                <a:cs typeface="Calibri" pitchFamily="34" charset="-120"/>
              </a:rPr>
              <a:t>Et si on discutait ?</a:t>
            </a:r>
            <a:endParaRPr lang="en-US" sz="3200" dirty="0"/>
          </a:p>
        </p:txBody>
      </p:sp>
      <p:sp>
        <p:nvSpPr>
          <p:cNvPr id="3" name="Shape 1"/>
          <p:cNvSpPr/>
          <p:nvPr/>
        </p:nvSpPr>
        <p:spPr>
          <a:xfrm>
            <a:off x="548640" y="1371600"/>
            <a:ext cx="3840480" cy="1920240"/>
          </a:xfrm>
          <a:prstGeom prst="roundRect">
            <a:avLst>
              <a:gd name="adj" fmla="val 9524"/>
            </a:avLst>
          </a:prstGeom>
          <a:solidFill>
            <a:srgbClr val="FFFFFF"/>
          </a:solidFill>
          <a:ln w="25400">
            <a:solidFill>
              <a:srgbClr val="F97316"/>
            </a:solidFill>
            <a:prstDash val="solid"/>
          </a:ln>
        </p:spPr>
      </p:sp>
      <p:sp>
        <p:nvSpPr>
          <p:cNvPr id="4" name="Text 2"/>
          <p:cNvSpPr txBox="1"/>
          <p:nvPr/>
        </p:nvSpPr>
        <p:spPr>
          <a:xfrm>
            <a:off x="777240" y="1463040"/>
            <a:ext cx="3383280" cy="1737360"/>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Salut, moi c'est </a:t>
            </a:r>
            <a:pPr indent="0" marL="0">
              <a:buNone/>
            </a:pPr>
            <a:r>
              <a:rPr lang="en-US" sz="1700" b="1" dirty="0">
                <a:solidFill>
                  <a:srgbClr val="1F2937"/>
                </a:solidFill>
                <a:highlight>
                  <a:srgbClr val="FDE68A"/>
                </a:highlight>
                <a:latin typeface="Calibri" pitchFamily="34" charset="0"/>
                <a:ea typeface="Calibri" pitchFamily="34" charset="-122"/>
                <a:cs typeface="Calibri" pitchFamily="34" charset="-120"/>
              </a:rPr>
              <a:t>Karim</a:t>
            </a:r>
            <a:pPr indent="0" marL="0">
              <a:buNone/>
            </a:pPr>
            <a:r>
              <a:rPr lang="en-US" sz="1700" dirty="0">
                <a:solidFill>
                  <a:srgbClr val="1F2937"/>
                </a:solidFill>
                <a:latin typeface="Calibri" pitchFamily="34" charset="0"/>
                <a:ea typeface="Calibri" pitchFamily="34" charset="-122"/>
                <a:cs typeface="Calibri" pitchFamily="34" charset="-120"/>
              </a:rPr>
              <a:t>, je cherche un </a:t>
            </a:r>
            <a:pPr indent="0" marL="0">
              <a:buNone/>
            </a:pPr>
            <a:r>
              <a:rPr lang="en-US" sz="1700" b="1" dirty="0">
                <a:solidFill>
                  <a:srgbClr val="1F2937"/>
                </a:solidFill>
                <a:highlight>
                  <a:srgbClr val="BBF7D0"/>
                </a:highlight>
                <a:latin typeface="Calibri" pitchFamily="34" charset="0"/>
                <a:ea typeface="Calibri" pitchFamily="34" charset="-122"/>
                <a:cs typeface="Calibri" pitchFamily="34" charset="-120"/>
              </a:rPr>
              <a:t>site e-commerce</a:t>
            </a:r>
            <a:pPr indent="0" marL="0">
              <a:buNone/>
            </a:pPr>
            <a:r>
              <a:rPr lang="en-US" sz="1700" dirty="0">
                <a:solidFill>
                  <a:srgbClr val="1F2937"/>
                </a:solidFill>
                <a:latin typeface="Calibri" pitchFamily="34" charset="0"/>
                <a:ea typeface="Calibri" pitchFamily="34" charset="-122"/>
                <a:cs typeface="Calibri" pitchFamily="34" charset="-120"/>
              </a:rPr>
              <a:t>, écrivez-moi à </a:t>
            </a:r>
            <a:pPr indent="0" marL="0">
              <a:buNone/>
            </a:pPr>
            <a:r>
              <a:rPr lang="en-US" sz="1700" b="1" dirty="0">
                <a:solidFill>
                  <a:srgbClr val="1F2937"/>
                </a:solidFill>
                <a:highlight>
                  <a:srgbClr val="BFDBFE"/>
                </a:highlight>
                <a:latin typeface="Calibri" pitchFamily="34" charset="0"/>
                <a:ea typeface="Calibri" pitchFamily="34" charset="-122"/>
                <a:cs typeface="Calibri" pitchFamily="34" charset="-120"/>
              </a:rPr>
              <a:t>karim@mail.com</a:t>
            </a:r>
            <a:endParaRPr lang="en-US" sz="1700" dirty="0"/>
          </a:p>
        </p:txBody>
      </p:sp>
      <p:sp>
        <p:nvSpPr>
          <p:cNvPr id="5" name="Text 3"/>
          <p:cNvSpPr txBox="1"/>
          <p:nvPr/>
        </p:nvSpPr>
        <p:spPr>
          <a:xfrm>
            <a:off x="4434840" y="1828800"/>
            <a:ext cx="640080" cy="731520"/>
          </a:xfrm>
          <a:prstGeom prst="rect">
            <a:avLst/>
          </a:prstGeom>
          <a:noFill/>
          <a:ln/>
        </p:spPr>
        <p:txBody>
          <a:bodyPr wrap="square" lIns="0" tIns="0" rIns="0" bIns="0" rtlCol="0" anchor="ctr"/>
          <a:lstStyle/>
          <a:p>
            <a:pPr algn="ctr" indent="0" marL="0">
              <a:buNone/>
            </a:pPr>
            <a:r>
              <a:rPr lang="en-US" sz="3600" b="1" dirty="0">
                <a:solidFill>
                  <a:srgbClr val="F97316"/>
                </a:solidFill>
                <a:latin typeface="Calibri" pitchFamily="34" charset="0"/>
                <a:ea typeface="Calibri" pitchFamily="34" charset="-122"/>
                <a:cs typeface="Calibri" pitchFamily="34" charset="-120"/>
              </a:rPr>
              <a:t>→</a:t>
            </a:r>
            <a:endParaRPr lang="en-US" sz="3600" dirty="0"/>
          </a:p>
        </p:txBody>
      </p:sp>
      <p:sp>
        <p:nvSpPr>
          <p:cNvPr id="6" name="Shape 4"/>
          <p:cNvSpPr/>
          <p:nvPr/>
        </p:nvSpPr>
        <p:spPr>
          <a:xfrm>
            <a:off x="5212080" y="1371600"/>
            <a:ext cx="3383280" cy="640080"/>
          </a:xfrm>
          <a:prstGeom prst="roundRect">
            <a:avLst>
              <a:gd name="adj" fmla="val 17143"/>
            </a:avLst>
          </a:prstGeom>
          <a:solidFill>
            <a:srgbClr val="FDE68A"/>
          </a:solidFill>
          <a:ln w="12700">
            <a:solidFill>
              <a:srgbClr val="FDE68A"/>
            </a:solidFill>
            <a:prstDash val="solid"/>
          </a:ln>
        </p:spPr>
      </p:sp>
      <p:sp>
        <p:nvSpPr>
          <p:cNvPr id="7" name="Text 5"/>
          <p:cNvSpPr txBox="1"/>
          <p:nvPr/>
        </p:nvSpPr>
        <p:spPr>
          <a:xfrm>
            <a:off x="5440680" y="1371600"/>
            <a:ext cx="3017520" cy="640080"/>
          </a:xfrm>
          <a:prstGeom prst="rect">
            <a:avLst/>
          </a:prstGeom>
          <a:noFill/>
          <a:ln/>
        </p:spPr>
        <p:txBody>
          <a:bodyPr wrap="square" lIns="0" tIns="0" rIns="0" bIns="0" rtlCol="0" anchor="ctr"/>
          <a:lstStyle/>
          <a:p>
            <a:pPr indent="0" marL="0">
              <a:buNone/>
            </a:pPr>
            <a:r>
              <a:rPr lang="en-US" sz="1000" b="1" dirty="0">
                <a:solidFill>
                  <a:srgbClr val="4B5563"/>
                </a:solidFill>
                <a:latin typeface="Calibri" pitchFamily="34" charset="0"/>
                <a:ea typeface="Calibri" pitchFamily="34" charset="-122"/>
                <a:cs typeface="Calibri" pitchFamily="34" charset="-120"/>
              </a:rPr>
              <a:t>NOM</a:t>
            </a:r>
            <a:endParaRPr lang="en-US" sz="1000" dirty="0"/>
          </a:p>
          <a:p>
            <a:pPr indent="0" marL="0">
              <a:buNone/>
            </a:pPr>
            <a:r>
              <a:rPr lang="en-US" sz="1700" b="1" dirty="0">
                <a:solidFill>
                  <a:srgbClr val="1F2937"/>
                </a:solidFill>
                <a:latin typeface="Calibri" pitchFamily="34" charset="0"/>
                <a:ea typeface="Calibri" pitchFamily="34" charset="-122"/>
                <a:cs typeface="Calibri" pitchFamily="34" charset="-120"/>
              </a:rPr>
              <a:t>Karim</a:t>
            </a:r>
            <a:endParaRPr lang="en-US" sz="1000" dirty="0"/>
          </a:p>
        </p:txBody>
      </p:sp>
      <p:sp>
        <p:nvSpPr>
          <p:cNvPr id="8" name="Shape 6"/>
          <p:cNvSpPr/>
          <p:nvPr/>
        </p:nvSpPr>
        <p:spPr>
          <a:xfrm>
            <a:off x="5212080" y="2148840"/>
            <a:ext cx="3383280" cy="640080"/>
          </a:xfrm>
          <a:prstGeom prst="roundRect">
            <a:avLst>
              <a:gd name="adj" fmla="val 17143"/>
            </a:avLst>
          </a:prstGeom>
          <a:solidFill>
            <a:srgbClr val="BFDBFE"/>
          </a:solidFill>
          <a:ln w="12700">
            <a:solidFill>
              <a:srgbClr val="BFDBFE"/>
            </a:solidFill>
            <a:prstDash val="solid"/>
          </a:ln>
        </p:spPr>
      </p:sp>
      <p:sp>
        <p:nvSpPr>
          <p:cNvPr id="9" name="Text 7"/>
          <p:cNvSpPr txBox="1"/>
          <p:nvPr/>
        </p:nvSpPr>
        <p:spPr>
          <a:xfrm>
            <a:off x="5440680" y="2148840"/>
            <a:ext cx="3017520" cy="640080"/>
          </a:xfrm>
          <a:prstGeom prst="rect">
            <a:avLst/>
          </a:prstGeom>
          <a:noFill/>
          <a:ln/>
        </p:spPr>
        <p:txBody>
          <a:bodyPr wrap="square" lIns="0" tIns="0" rIns="0" bIns="0" rtlCol="0" anchor="ctr"/>
          <a:lstStyle/>
          <a:p>
            <a:pPr indent="0" marL="0">
              <a:buNone/>
            </a:pPr>
            <a:r>
              <a:rPr lang="en-US" sz="1000" b="1" dirty="0">
                <a:solidFill>
                  <a:srgbClr val="4B5563"/>
                </a:solidFill>
                <a:latin typeface="Calibri" pitchFamily="34" charset="0"/>
                <a:ea typeface="Calibri" pitchFamily="34" charset="-122"/>
                <a:cs typeface="Calibri" pitchFamily="34" charset="-120"/>
              </a:rPr>
              <a:t>EMAIL</a:t>
            </a:r>
            <a:endParaRPr lang="en-US" sz="1000" dirty="0"/>
          </a:p>
          <a:p>
            <a:pPr indent="0" marL="0">
              <a:buNone/>
            </a:pPr>
            <a:r>
              <a:rPr lang="en-US" sz="1700" b="1" dirty="0">
                <a:solidFill>
                  <a:srgbClr val="1F2937"/>
                </a:solidFill>
                <a:latin typeface="Calibri" pitchFamily="34" charset="0"/>
                <a:ea typeface="Calibri" pitchFamily="34" charset="-122"/>
                <a:cs typeface="Calibri" pitchFamily="34" charset="-120"/>
              </a:rPr>
              <a:t>karim@mail.com</a:t>
            </a:r>
            <a:endParaRPr lang="en-US" sz="1000" dirty="0"/>
          </a:p>
        </p:txBody>
      </p:sp>
      <p:sp>
        <p:nvSpPr>
          <p:cNvPr id="10" name="Shape 8"/>
          <p:cNvSpPr/>
          <p:nvPr/>
        </p:nvSpPr>
        <p:spPr>
          <a:xfrm>
            <a:off x="5212080" y="2926080"/>
            <a:ext cx="3383280" cy="640080"/>
          </a:xfrm>
          <a:prstGeom prst="roundRect">
            <a:avLst>
              <a:gd name="adj" fmla="val 17143"/>
            </a:avLst>
          </a:prstGeom>
          <a:solidFill>
            <a:srgbClr val="BBF7D0"/>
          </a:solidFill>
          <a:ln w="12700">
            <a:solidFill>
              <a:srgbClr val="BBF7D0"/>
            </a:solidFill>
            <a:prstDash val="solid"/>
          </a:ln>
        </p:spPr>
      </p:sp>
      <p:sp>
        <p:nvSpPr>
          <p:cNvPr id="11" name="Text 9"/>
          <p:cNvSpPr txBox="1"/>
          <p:nvPr/>
        </p:nvSpPr>
        <p:spPr>
          <a:xfrm>
            <a:off x="5440680" y="2926080"/>
            <a:ext cx="3017520" cy="640080"/>
          </a:xfrm>
          <a:prstGeom prst="rect">
            <a:avLst/>
          </a:prstGeom>
          <a:noFill/>
          <a:ln/>
        </p:spPr>
        <p:txBody>
          <a:bodyPr wrap="square" lIns="0" tIns="0" rIns="0" bIns="0" rtlCol="0" anchor="ctr"/>
          <a:lstStyle/>
          <a:p>
            <a:pPr indent="0" marL="0">
              <a:buNone/>
            </a:pPr>
            <a:r>
              <a:rPr lang="en-US" sz="1000" b="1" dirty="0">
                <a:solidFill>
                  <a:srgbClr val="4B5563"/>
                </a:solidFill>
                <a:latin typeface="Calibri" pitchFamily="34" charset="0"/>
                <a:ea typeface="Calibri" pitchFamily="34" charset="-122"/>
                <a:cs typeface="Calibri" pitchFamily="34" charset="-120"/>
              </a:rPr>
              <a:t>BESOIN</a:t>
            </a:r>
            <a:endParaRPr lang="en-US" sz="1000" dirty="0"/>
          </a:p>
          <a:p>
            <a:pPr indent="0" marL="0">
              <a:buNone/>
            </a:pPr>
            <a:r>
              <a:rPr lang="en-US" sz="1700" b="1" dirty="0">
                <a:solidFill>
                  <a:srgbClr val="1F2937"/>
                </a:solidFill>
                <a:latin typeface="Calibri" pitchFamily="34" charset="0"/>
                <a:ea typeface="Calibri" pitchFamily="34" charset="-122"/>
                <a:cs typeface="Calibri" pitchFamily="34" charset="-120"/>
              </a:rPr>
              <a:t>Site e-commerce</a:t>
            </a:r>
            <a:endParaRPr lang="en-US" sz="1000" dirty="0"/>
          </a:p>
        </p:txBody>
      </p:sp>
      <p:sp>
        <p:nvSpPr>
          <p:cNvPr id="12" name="Text 10"/>
          <p:cNvSpPr txBox="1"/>
          <p:nvPr/>
        </p:nvSpPr>
        <p:spPr>
          <a:xfrm>
            <a:off x="548640" y="3931920"/>
            <a:ext cx="8046720" cy="731520"/>
          </a:xfrm>
          <a:prstGeom prst="rect">
            <a:avLst/>
          </a:prstGeom>
          <a:noFill/>
          <a:ln/>
        </p:spPr>
        <p:txBody>
          <a:bodyPr wrap="square" lIns="0" tIns="0" rIns="0" bIns="0" rtlCol="0" anchor="ctr"/>
          <a:lstStyle/>
          <a:p>
            <a:pPr algn="ctr" indent="0" marL="0">
              <a:buNone/>
            </a:pPr>
            <a:r>
              <a:rPr lang="en-US" sz="3200" b="1" dirty="0">
                <a:solidFill>
                  <a:srgbClr val="F97316"/>
                </a:solidFill>
                <a:latin typeface="Calibri" pitchFamily="34" charset="0"/>
                <a:ea typeface="Calibri" pitchFamily="34" charset="-122"/>
                <a:cs typeface="Calibri" pitchFamily="34" charset="-120"/>
              </a:rPr>
              <a:t>1 phrase. 3 données.</a:t>
            </a:r>
            <a:endParaRPr lang="en-US" sz="3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437"/>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Ce qu'on code maintenant.</a:t>
            </a:r>
            <a:endParaRPr lang="en-US" sz="3200" dirty="0"/>
          </a:p>
        </p:txBody>
      </p:sp>
      <p:sp>
        <p:nvSpPr>
          <p:cNvPr id="3" name="Text 1"/>
          <p:cNvSpPr txBox="1"/>
          <p:nvPr/>
        </p:nvSpPr>
        <p:spPr>
          <a:xfrm>
            <a:off x="548640" y="1005840"/>
            <a:ext cx="8046720" cy="365760"/>
          </a:xfrm>
          <a:prstGeom prst="rect">
            <a:avLst/>
          </a:prstGeom>
          <a:noFill/>
          <a:ln/>
        </p:spPr>
        <p:txBody>
          <a:bodyPr wrap="square" lIns="0" tIns="0" rIns="0" bIns="0" rtlCol="0" anchor="ctr"/>
          <a:lstStyle/>
          <a:p>
            <a:pPr indent="0" marL="0">
              <a:buNone/>
            </a:pPr>
            <a:r>
              <a:rPr lang="en-US" sz="1600" dirty="0">
                <a:solidFill>
                  <a:srgbClr val="93C5FD"/>
                </a:solidFill>
                <a:latin typeface="Calibri" pitchFamily="34" charset="0"/>
                <a:ea typeface="Calibri" pitchFamily="34" charset="-122"/>
                <a:cs typeface="Calibri" pitchFamily="34" charset="-120"/>
              </a:rPr>
              <a:t>En direct. De zéro.</a:t>
            </a:r>
            <a:endParaRPr lang="en-US" sz="1600" dirty="0"/>
          </a:p>
        </p:txBody>
      </p:sp>
      <p:sp>
        <p:nvSpPr>
          <p:cNvPr id="4" name="Shape 2"/>
          <p:cNvSpPr/>
          <p:nvPr/>
        </p:nvSpPr>
        <p:spPr>
          <a:xfrm>
            <a:off x="708660" y="1828800"/>
            <a:ext cx="1554480" cy="2011680"/>
          </a:xfrm>
          <a:prstGeom prst="roundRect">
            <a:avLst>
              <a:gd name="adj" fmla="val 7059"/>
            </a:avLst>
          </a:prstGeom>
          <a:solidFill>
            <a:srgbClr val="16224F"/>
          </a:solidFill>
          <a:ln w="25400">
            <a:solidFill>
              <a:srgbClr val="3B82F6"/>
            </a:solidFill>
            <a:prstDash val="solid"/>
          </a:ln>
        </p:spPr>
      </p:sp>
      <p:sp>
        <p:nvSpPr>
          <p:cNvPr id="5" name="Text 3"/>
          <p:cNvSpPr txBox="1"/>
          <p:nvPr/>
        </p:nvSpPr>
        <p:spPr>
          <a:xfrm>
            <a:off x="708660" y="1965960"/>
            <a:ext cx="1554480" cy="822960"/>
          </a:xfrm>
          <a:prstGeom prst="rect">
            <a:avLst/>
          </a:prstGeom>
          <a:noFill/>
          <a:ln/>
        </p:spPr>
        <p:txBody>
          <a:bodyPr wrap="square" lIns="0" tIns="0" rIns="0" bIns="0" rtlCol="0" anchor="ctr"/>
          <a:lstStyle/>
          <a:p>
            <a:pPr algn="ctr" indent="0" marL="0">
              <a:buNone/>
            </a:pPr>
            <a:r>
              <a:rPr lang="en-US" sz="4800" b="1" dirty="0">
                <a:solidFill>
                  <a:srgbClr val="3B82F6"/>
                </a:solidFill>
                <a:latin typeface="Calibri" pitchFamily="34" charset="0"/>
                <a:ea typeface="Calibri" pitchFamily="34" charset="-122"/>
                <a:cs typeface="Calibri" pitchFamily="34" charset="-120"/>
              </a:rPr>
              <a:t>1</a:t>
            </a:r>
            <a:endParaRPr lang="en-US" sz="4800" dirty="0"/>
          </a:p>
        </p:txBody>
      </p:sp>
      <p:sp>
        <p:nvSpPr>
          <p:cNvPr id="6" name="Text 4"/>
          <p:cNvSpPr txBox="1"/>
          <p:nvPr/>
        </p:nvSpPr>
        <p:spPr>
          <a:xfrm>
            <a:off x="708660" y="2834640"/>
            <a:ext cx="155448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Accueil</a:t>
            </a:r>
            <a:endParaRPr lang="en-US" sz="1600" dirty="0"/>
          </a:p>
        </p:txBody>
      </p:sp>
      <p:sp>
        <p:nvSpPr>
          <p:cNvPr id="7" name="Text 5"/>
          <p:cNvSpPr txBox="1"/>
          <p:nvPr/>
        </p:nvSpPr>
        <p:spPr>
          <a:xfrm>
            <a:off x="800100" y="3200400"/>
            <a:ext cx="1371600" cy="457200"/>
          </a:xfrm>
          <a:prstGeom prst="rect">
            <a:avLst/>
          </a:prstGeom>
          <a:noFill/>
          <a:ln/>
        </p:spPr>
        <p:txBody>
          <a:bodyPr wrap="square" lIns="0" tIns="0" rIns="0" bIns="0" rtlCol="0" anchor="ctr"/>
          <a:lstStyle/>
          <a:p>
            <a:pPr algn="ctr" indent="0" marL="0">
              <a:buNone/>
            </a:pPr>
            <a:r>
              <a:rPr lang="en-US" sz="1100" dirty="0">
                <a:solidFill>
                  <a:srgbClr val="A5B4FC"/>
                </a:solidFill>
                <a:latin typeface="Calibri" pitchFamily="34" charset="0"/>
                <a:ea typeface="Calibri" pitchFamily="34" charset="-122"/>
                <a:cs typeface="Calibri" pitchFamily="34" charset="-120"/>
              </a:rPr>
              <a:t>Message d'accueil</a:t>
            </a:r>
            <a:endParaRPr lang="en-US" sz="1100" dirty="0"/>
          </a:p>
        </p:txBody>
      </p:sp>
      <p:sp>
        <p:nvSpPr>
          <p:cNvPr id="8" name="Shape 6"/>
          <p:cNvSpPr/>
          <p:nvPr/>
        </p:nvSpPr>
        <p:spPr>
          <a:xfrm>
            <a:off x="2263140" y="2834640"/>
            <a:ext cx="502920" cy="0"/>
          </a:xfrm>
          <a:prstGeom prst="line">
            <a:avLst/>
          </a:prstGeom>
          <a:noFill/>
          <a:ln w="31750">
            <a:solidFill>
              <a:srgbClr val="F97316"/>
            </a:solidFill>
            <a:prstDash val="solid"/>
            <a:tailEnd type="triangle"/>
          </a:ln>
        </p:spPr>
      </p:sp>
      <p:sp>
        <p:nvSpPr>
          <p:cNvPr id="9" name="Shape 7"/>
          <p:cNvSpPr/>
          <p:nvPr/>
        </p:nvSpPr>
        <p:spPr>
          <a:xfrm>
            <a:off x="2766060" y="1828800"/>
            <a:ext cx="1554480" cy="2011680"/>
          </a:xfrm>
          <a:prstGeom prst="roundRect">
            <a:avLst>
              <a:gd name="adj" fmla="val 7059"/>
            </a:avLst>
          </a:prstGeom>
          <a:solidFill>
            <a:srgbClr val="16224F"/>
          </a:solidFill>
          <a:ln w="25400">
            <a:solidFill>
              <a:srgbClr val="3B82F6"/>
            </a:solidFill>
            <a:prstDash val="solid"/>
          </a:ln>
        </p:spPr>
      </p:sp>
      <p:sp>
        <p:nvSpPr>
          <p:cNvPr id="10" name="Text 8"/>
          <p:cNvSpPr txBox="1"/>
          <p:nvPr/>
        </p:nvSpPr>
        <p:spPr>
          <a:xfrm>
            <a:off x="2766060" y="1965960"/>
            <a:ext cx="1554480" cy="822960"/>
          </a:xfrm>
          <a:prstGeom prst="rect">
            <a:avLst/>
          </a:prstGeom>
          <a:noFill/>
          <a:ln/>
        </p:spPr>
        <p:txBody>
          <a:bodyPr wrap="square" lIns="0" tIns="0" rIns="0" bIns="0" rtlCol="0" anchor="ctr"/>
          <a:lstStyle/>
          <a:p>
            <a:pPr algn="ctr" indent="0" marL="0">
              <a:buNone/>
            </a:pPr>
            <a:r>
              <a:rPr lang="en-US" sz="4800" b="1" dirty="0">
                <a:solidFill>
                  <a:srgbClr val="3B82F6"/>
                </a:solidFill>
                <a:latin typeface="Calibri" pitchFamily="34" charset="0"/>
                <a:ea typeface="Calibri" pitchFamily="34" charset="-122"/>
                <a:cs typeface="Calibri" pitchFamily="34" charset="-120"/>
              </a:rPr>
              <a:t>2</a:t>
            </a:r>
            <a:endParaRPr lang="en-US" sz="4800" dirty="0"/>
          </a:p>
        </p:txBody>
      </p:sp>
      <p:sp>
        <p:nvSpPr>
          <p:cNvPr id="11" name="Text 9"/>
          <p:cNvSpPr txBox="1"/>
          <p:nvPr/>
        </p:nvSpPr>
        <p:spPr>
          <a:xfrm>
            <a:off x="2766060" y="2834640"/>
            <a:ext cx="155448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Extraction IA</a:t>
            </a:r>
            <a:endParaRPr lang="en-US" sz="1600" dirty="0"/>
          </a:p>
        </p:txBody>
      </p:sp>
      <p:sp>
        <p:nvSpPr>
          <p:cNvPr id="12" name="Text 10"/>
          <p:cNvSpPr txBox="1"/>
          <p:nvPr/>
        </p:nvSpPr>
        <p:spPr>
          <a:xfrm>
            <a:off x="2857500" y="3200400"/>
            <a:ext cx="1371600" cy="457200"/>
          </a:xfrm>
          <a:prstGeom prst="rect">
            <a:avLst/>
          </a:prstGeom>
          <a:noFill/>
          <a:ln/>
        </p:spPr>
        <p:txBody>
          <a:bodyPr wrap="square" lIns="0" tIns="0" rIns="0" bIns="0" rtlCol="0" anchor="ctr"/>
          <a:lstStyle/>
          <a:p>
            <a:pPr algn="ctr" indent="0" marL="0">
              <a:buNone/>
            </a:pPr>
            <a:r>
              <a:rPr lang="en-US" sz="1100" dirty="0">
                <a:solidFill>
                  <a:srgbClr val="A5B4FC"/>
                </a:solidFill>
                <a:latin typeface="Calibri" pitchFamily="34" charset="0"/>
                <a:ea typeface="Calibri" pitchFamily="34" charset="-122"/>
                <a:cs typeface="Calibri" pitchFamily="34" charset="-120"/>
              </a:rPr>
              <a:t>Nom · Email · Besoin</a:t>
            </a:r>
            <a:endParaRPr lang="en-US" sz="1100" dirty="0"/>
          </a:p>
        </p:txBody>
      </p:sp>
      <p:sp>
        <p:nvSpPr>
          <p:cNvPr id="13" name="Shape 11"/>
          <p:cNvSpPr/>
          <p:nvPr/>
        </p:nvSpPr>
        <p:spPr>
          <a:xfrm>
            <a:off x="4320540" y="2834640"/>
            <a:ext cx="502920" cy="0"/>
          </a:xfrm>
          <a:prstGeom prst="line">
            <a:avLst/>
          </a:prstGeom>
          <a:noFill/>
          <a:ln w="31750">
            <a:solidFill>
              <a:srgbClr val="F97316"/>
            </a:solidFill>
            <a:prstDash val="solid"/>
            <a:tailEnd type="triangle"/>
          </a:ln>
        </p:spPr>
      </p:sp>
      <p:sp>
        <p:nvSpPr>
          <p:cNvPr id="14" name="Shape 12"/>
          <p:cNvSpPr/>
          <p:nvPr/>
        </p:nvSpPr>
        <p:spPr>
          <a:xfrm>
            <a:off x="4823460" y="1828800"/>
            <a:ext cx="1554480" cy="2011680"/>
          </a:xfrm>
          <a:prstGeom prst="roundRect">
            <a:avLst>
              <a:gd name="adj" fmla="val 7059"/>
            </a:avLst>
          </a:prstGeom>
          <a:solidFill>
            <a:srgbClr val="16224F"/>
          </a:solidFill>
          <a:ln w="25400">
            <a:solidFill>
              <a:srgbClr val="3B82F6"/>
            </a:solidFill>
            <a:prstDash val="solid"/>
          </a:ln>
        </p:spPr>
      </p:sp>
      <p:sp>
        <p:nvSpPr>
          <p:cNvPr id="15" name="Text 13"/>
          <p:cNvSpPr txBox="1"/>
          <p:nvPr/>
        </p:nvSpPr>
        <p:spPr>
          <a:xfrm>
            <a:off x="4823460" y="1965960"/>
            <a:ext cx="1554480" cy="822960"/>
          </a:xfrm>
          <a:prstGeom prst="rect">
            <a:avLst/>
          </a:prstGeom>
          <a:noFill/>
          <a:ln/>
        </p:spPr>
        <p:txBody>
          <a:bodyPr wrap="square" lIns="0" tIns="0" rIns="0" bIns="0" rtlCol="0" anchor="ctr"/>
          <a:lstStyle/>
          <a:p>
            <a:pPr algn="ctr" indent="0" marL="0">
              <a:buNone/>
            </a:pPr>
            <a:r>
              <a:rPr lang="en-US" sz="4800" b="1" dirty="0">
                <a:solidFill>
                  <a:srgbClr val="3B82F6"/>
                </a:solidFill>
                <a:latin typeface="Calibri" pitchFamily="34" charset="0"/>
                <a:ea typeface="Calibri" pitchFamily="34" charset="-122"/>
                <a:cs typeface="Calibri" pitchFamily="34" charset="-120"/>
              </a:rPr>
              <a:t>3</a:t>
            </a:r>
            <a:endParaRPr lang="en-US" sz="4800" dirty="0"/>
          </a:p>
        </p:txBody>
      </p:sp>
      <p:sp>
        <p:nvSpPr>
          <p:cNvPr id="16" name="Text 14"/>
          <p:cNvSpPr txBox="1"/>
          <p:nvPr/>
        </p:nvSpPr>
        <p:spPr>
          <a:xfrm>
            <a:off x="4823460" y="2834640"/>
            <a:ext cx="155448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Vérification</a:t>
            </a:r>
            <a:endParaRPr lang="en-US" sz="1600" dirty="0"/>
          </a:p>
        </p:txBody>
      </p:sp>
      <p:sp>
        <p:nvSpPr>
          <p:cNvPr id="17" name="Text 15"/>
          <p:cNvSpPr txBox="1"/>
          <p:nvPr/>
        </p:nvSpPr>
        <p:spPr>
          <a:xfrm>
            <a:off x="4914900" y="3200400"/>
            <a:ext cx="1371600" cy="457200"/>
          </a:xfrm>
          <a:prstGeom prst="rect">
            <a:avLst/>
          </a:prstGeom>
          <a:noFill/>
          <a:ln/>
        </p:spPr>
        <p:txBody>
          <a:bodyPr wrap="square" lIns="0" tIns="0" rIns="0" bIns="0" rtlCol="0" anchor="ctr"/>
          <a:lstStyle/>
          <a:p>
            <a:pPr algn="ctr" indent="0" marL="0">
              <a:buNone/>
            </a:pPr>
            <a:r>
              <a:rPr lang="en-US" sz="1100" dirty="0">
                <a:solidFill>
                  <a:srgbClr val="A5B4FC"/>
                </a:solidFill>
                <a:latin typeface="Calibri" pitchFamily="34" charset="0"/>
                <a:ea typeface="Calibri" pitchFamily="34" charset="-122"/>
                <a:cs typeface="Calibri" pitchFamily="34" charset="-120"/>
              </a:rPr>
              <a:t>Email valide ?</a:t>
            </a:r>
            <a:endParaRPr lang="en-US" sz="1100" dirty="0"/>
          </a:p>
        </p:txBody>
      </p:sp>
      <p:sp>
        <p:nvSpPr>
          <p:cNvPr id="18" name="Shape 16"/>
          <p:cNvSpPr/>
          <p:nvPr/>
        </p:nvSpPr>
        <p:spPr>
          <a:xfrm>
            <a:off x="6377940" y="2834640"/>
            <a:ext cx="502920" cy="0"/>
          </a:xfrm>
          <a:prstGeom prst="line">
            <a:avLst/>
          </a:prstGeom>
          <a:noFill/>
          <a:ln w="31750">
            <a:solidFill>
              <a:srgbClr val="F97316"/>
            </a:solidFill>
            <a:prstDash val="solid"/>
            <a:tailEnd type="triangle"/>
          </a:ln>
        </p:spPr>
      </p:sp>
      <p:sp>
        <p:nvSpPr>
          <p:cNvPr id="19" name="Shape 17"/>
          <p:cNvSpPr/>
          <p:nvPr/>
        </p:nvSpPr>
        <p:spPr>
          <a:xfrm>
            <a:off x="6880860" y="1828800"/>
            <a:ext cx="1554480" cy="2011680"/>
          </a:xfrm>
          <a:prstGeom prst="roundRect">
            <a:avLst>
              <a:gd name="adj" fmla="val 7059"/>
            </a:avLst>
          </a:prstGeom>
          <a:solidFill>
            <a:srgbClr val="16224F"/>
          </a:solidFill>
          <a:ln w="25400">
            <a:solidFill>
              <a:srgbClr val="F97316"/>
            </a:solidFill>
            <a:prstDash val="solid"/>
          </a:ln>
        </p:spPr>
      </p:sp>
      <p:sp>
        <p:nvSpPr>
          <p:cNvPr id="20" name="Text 18"/>
          <p:cNvSpPr txBox="1"/>
          <p:nvPr/>
        </p:nvSpPr>
        <p:spPr>
          <a:xfrm>
            <a:off x="6880860" y="1965960"/>
            <a:ext cx="1554480" cy="822960"/>
          </a:xfrm>
          <a:prstGeom prst="rect">
            <a:avLst/>
          </a:prstGeom>
          <a:noFill/>
          <a:ln/>
        </p:spPr>
        <p:txBody>
          <a:bodyPr wrap="square" lIns="0" tIns="0" rIns="0" bIns="0" rtlCol="0" anchor="ctr"/>
          <a:lstStyle/>
          <a:p>
            <a:pPr algn="ctr" indent="0" marL="0">
              <a:buNone/>
            </a:pPr>
            <a:r>
              <a:rPr lang="en-US" sz="4800" b="1" dirty="0">
                <a:solidFill>
                  <a:srgbClr val="F97316"/>
                </a:solidFill>
                <a:latin typeface="Calibri" pitchFamily="34" charset="0"/>
                <a:ea typeface="Calibri" pitchFamily="34" charset="-122"/>
                <a:cs typeface="Calibri" pitchFamily="34" charset="-120"/>
              </a:rPr>
              <a:t>4</a:t>
            </a:r>
            <a:endParaRPr lang="en-US" sz="4800" dirty="0"/>
          </a:p>
        </p:txBody>
      </p:sp>
      <p:sp>
        <p:nvSpPr>
          <p:cNvPr id="21" name="Text 19"/>
          <p:cNvSpPr txBox="1"/>
          <p:nvPr/>
        </p:nvSpPr>
        <p:spPr>
          <a:xfrm>
            <a:off x="6880860" y="2834640"/>
            <a:ext cx="155448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Stockage</a:t>
            </a:r>
            <a:endParaRPr lang="en-US" sz="1600" dirty="0"/>
          </a:p>
        </p:txBody>
      </p:sp>
      <p:sp>
        <p:nvSpPr>
          <p:cNvPr id="22" name="Text 20"/>
          <p:cNvSpPr txBox="1"/>
          <p:nvPr/>
        </p:nvSpPr>
        <p:spPr>
          <a:xfrm>
            <a:off x="6972300" y="3200400"/>
            <a:ext cx="1371600" cy="457200"/>
          </a:xfrm>
          <a:prstGeom prst="rect">
            <a:avLst/>
          </a:prstGeom>
          <a:noFill/>
          <a:ln/>
        </p:spPr>
        <p:txBody>
          <a:bodyPr wrap="square" lIns="0" tIns="0" rIns="0" bIns="0" rtlCol="0" anchor="ctr"/>
          <a:lstStyle/>
          <a:p>
            <a:pPr algn="ctr" indent="0" marL="0">
              <a:buNone/>
            </a:pPr>
            <a:r>
              <a:rPr lang="en-US" sz="1100" dirty="0">
                <a:solidFill>
                  <a:srgbClr val="A5B4FC"/>
                </a:solidFill>
                <a:latin typeface="Calibri" pitchFamily="34" charset="0"/>
                <a:ea typeface="Calibri" pitchFamily="34" charset="-122"/>
                <a:cs typeface="Calibri" pitchFamily="34" charset="-120"/>
              </a:rPr>
              <a:t>Base de données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Botpress : Agent de qualification de leads</dc:title>
  <dc:subject>PptxGenJS Presentation</dc:subject>
  <dc:creator>PptxGenJS</dc:creator>
  <cp:lastModifiedBy>PptxGenJS</cp:lastModifiedBy>
  <cp:revision>1</cp:revision>
  <dcterms:created xsi:type="dcterms:W3CDTF">2026-10-17T05:24:35Z</dcterms:created>
  <dcterms:modified xsi:type="dcterms:W3CDTF">2026-10-17T05:24:35Z</dcterms:modified>
</cp:coreProperties>
</file>